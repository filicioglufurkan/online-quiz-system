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AF38C-8607-422C-85CF-39A0EC40586F}" v="40" dt="2026-06-06T09:14:09.550"/>
    <p1510:client id="{5F10BB3E-BB33-429C-8280-C00346E99A36}" v="46" dt="2026-06-06T10:28:52.773"/>
    <p1510:client id="{AE142297-BB06-4A90-ABCE-4E718F88C930}" v="1915" dt="2026-06-06T09:53:35.110"/>
    <p1510:client id="{F6C3BCB9-757B-9B7D-6C06-6B0B22202261}" v="434" dt="2026-06-06T09:54:56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4D1AF-F175-4830-85BB-5D13CD7C19AA}" type="datetimeFigureOut">
              <a:t>19.06.2026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343D5-C0CF-483F-948F-ABC638F45BDB}" type="slidenum"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3090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 </a:t>
            </a:r>
            <a:r>
              <a:rPr lang="en-US" sz="850" kern="0" spc="200">
                <a:solidFill>
                  <a:srgbClr val="64748B"/>
                </a:solidFill>
                <a:latin typeface="Consolas"/>
                <a:ea typeface="Calibri"/>
                <a:cs typeface="Calibri"/>
              </a:rPr>
              <a:t>ONLINE QUIZ LAB</a:t>
            </a: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kern="0" spc="300">
                <a:solidFill>
                  <a:srgbClr val="A5B4FC"/>
                </a:solidFill>
                <a:latin typeface="Consolas"/>
                <a:ea typeface="Consolas" pitchFamily="34" charset="-122"/>
                <a:cs typeface="Consolas" pitchFamily="34" charset="-120"/>
              </a:rPr>
              <a:t>———  CSE444 </a:t>
            </a:r>
            <a:r>
              <a:rPr lang="tr-TR" sz="1200" kern="0" spc="300">
                <a:solidFill>
                  <a:srgbClr val="A5B4FC"/>
                </a:solidFill>
                <a:latin typeface="Consolas"/>
                <a:ea typeface="Consolas" pitchFamily="34" charset="-122"/>
                <a:cs typeface="Consolas" pitchFamily="34" charset="-120"/>
              </a:rPr>
              <a:t>SOFTWARE ENGINEERING-II </a:t>
            </a:r>
            <a:r>
              <a:rPr lang="en-US" sz="1200" kern="0" spc="300">
                <a:solidFill>
                  <a:srgbClr val="A5B4FC"/>
                </a:solidFill>
                <a:latin typeface="Consolas"/>
                <a:ea typeface="Consolas" pitchFamily="34" charset="-122"/>
                <a:cs typeface="Consolas" pitchFamily="34" charset="-120"/>
              </a:rPr>
              <a:t>PROJESİ · 2025–2026</a:t>
            </a:r>
            <a:endParaRPr lang="en-US" sz="1200">
              <a:latin typeface="Consola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5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Online </a:t>
            </a:r>
            <a:r>
              <a:rPr lang="en-US" sz="5600" b="1">
                <a:solidFill>
                  <a:srgbClr val="A5B4FC"/>
                </a:solidFill>
                <a:latin typeface="Calibri"/>
                <a:ea typeface="Calibri"/>
                <a:cs typeface="Calibri"/>
              </a:rPr>
              <a:t>Quiz </a:t>
            </a:r>
            <a:r>
              <a:rPr lang="tr-TR" sz="56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Sistemi</a:t>
            </a:r>
            <a:endParaRPr lang="en-US" sz="56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66928" y="3108960"/>
            <a:ext cx="868680" cy="457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"</a:t>
            </a:r>
            <a:r>
              <a:rPr lang="en-US" sz="1900" i="1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Üniversite</a:t>
            </a:r>
            <a:r>
              <a:rPr lang="en-US" sz="1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1900" i="1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okul</a:t>
            </a:r>
            <a:r>
              <a:rPr lang="en-US" sz="1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00" i="1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dersleri</a:t>
            </a:r>
            <a:r>
              <a:rPr lang="tr-TR" sz="1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ve daha fazlası</a:t>
            </a:r>
            <a:r>
              <a:rPr lang="en-US" sz="1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00" i="1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için</a:t>
            </a:r>
            <a:r>
              <a:rPr lang="en-US" sz="1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00" i="1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bir</a:t>
            </a:r>
            <a:r>
              <a:rPr lang="en-US" sz="1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00" i="1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sınav</a:t>
            </a:r>
            <a:r>
              <a:rPr lang="en-US" sz="1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00" i="1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platformu</a:t>
            </a:r>
            <a:r>
              <a:rPr lang="en-US" sz="1900" i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."</a:t>
            </a:r>
            <a:endParaRPr lang="en-US" sz="19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EKİP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3657600" cy="1021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Alper Kaan Güler</a:t>
            </a:r>
            <a:endParaRPr lang="en-US" sz="1300"/>
          </a:p>
          <a:p>
            <a:pPr marL="0" indent="0">
              <a:lnSpc>
                <a:spcPct val="120000"/>
              </a:lnSpc>
              <a:buNone/>
            </a:pPr>
            <a:r>
              <a:rPr lang="en-US" sz="1300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Furkan Filicioğlu</a:t>
            </a:r>
            <a:endParaRPr lang="en-US" sz="1300"/>
          </a:p>
          <a:p>
            <a:pPr marL="0" indent="0">
              <a:lnSpc>
                <a:spcPct val="120000"/>
              </a:lnSpc>
              <a:buNone/>
            </a:pPr>
            <a:r>
              <a:rPr lang="en-US" sz="1300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Ömer Faruk Koç</a:t>
            </a:r>
            <a:endParaRPr lang="en-US" sz="1300"/>
          </a:p>
          <a:p>
            <a:pPr marL="0" indent="0">
              <a:lnSpc>
                <a:spcPct val="120000"/>
              </a:lnSpc>
              <a:buNone/>
            </a:pPr>
            <a:r>
              <a:rPr lang="en-US" sz="1300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Yunus Emre Türk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548640" y="6172200"/>
            <a:ext cx="11091672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NEDEN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ve Hedefler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62956" cy="4754880"/>
          </a:xfrm>
          <a:prstGeom prst="roundRect">
            <a:avLst>
              <a:gd name="adj" fmla="val 1731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1856232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araçlar yetersiz kalıyor</a:t>
            </a:r>
            <a:endParaRPr lang="en-US" sz="190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481431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>
                <a:solidFill>
                  <a:srgbClr val="FFFFFF"/>
                </a:solidFill>
              </a:rPr>
              <a:t>Google Forms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94A3B8"/>
                </a:solidFill>
              </a:rPr>
              <a:t>Ders bazlı soru bankası desteği yok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500">
                <a:solidFill>
                  <a:srgbClr val="000000"/>
                </a:solidFill>
              </a:rPr>
              <a:t> 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400" b="1">
                <a:solidFill>
                  <a:srgbClr val="FFFFFF"/>
                </a:solidFill>
              </a:rPr>
              <a:t>Moodle</a:t>
            </a:r>
            <a:r>
              <a:rPr lang="tr-TR" sz="1400" b="1">
                <a:solidFill>
                  <a:srgbClr val="FFFFFF"/>
                </a:solidFill>
              </a:rPr>
              <a:t>, </a:t>
            </a:r>
            <a:r>
              <a:rPr lang="tr-TR" sz="1400" b="1" err="1">
                <a:solidFill>
                  <a:srgbClr val="FFFFFF"/>
                </a:solidFill>
              </a:rPr>
              <a:t>Canvas</a:t>
            </a:r>
            <a:r>
              <a:rPr lang="tr-TR" sz="1400" b="1">
                <a:solidFill>
                  <a:srgbClr val="FFFFFF"/>
                </a:solidFill>
              </a:rPr>
              <a:t> gibi ağır platformlar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tr-TR" sz="1250">
                <a:solidFill>
                  <a:srgbClr val="94A3B8"/>
                </a:solidFill>
              </a:rPr>
              <a:t>Bireysel veya küçük ölçekli kurumlar için gereğinden fazlası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500">
                <a:solidFill>
                  <a:srgbClr val="000000"/>
                </a:solidFill>
              </a:rPr>
              <a:t> 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400" b="1" err="1">
                <a:solidFill>
                  <a:srgbClr val="FFFFFF"/>
                </a:solidFill>
              </a:rPr>
              <a:t>Sınıf</a:t>
            </a:r>
            <a:r>
              <a:rPr lang="en-US" sz="1400" b="1">
                <a:solidFill>
                  <a:srgbClr val="FFFFFF"/>
                </a:solidFill>
              </a:rPr>
              <a:t>–sınav ataması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94A3B8"/>
                </a:solidFill>
              </a:rPr>
              <a:t>Rol yönetimi dağınık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500">
                <a:solidFill>
                  <a:srgbClr val="000000"/>
                </a:solidFill>
              </a:rPr>
              <a:t> 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400" b="1">
                <a:solidFill>
                  <a:srgbClr val="FFFFFF"/>
                </a:solidFill>
              </a:rPr>
              <a:t>Eğitmen kontrolü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94A3B8"/>
                </a:solidFill>
              </a:rPr>
              <a:t>"Hangi sınava kim erişebilir" yönetmesi zor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4754880"/>
          </a:xfrm>
          <a:prstGeom prst="roundRect">
            <a:avLst>
              <a:gd name="adj" fmla="val 1731"/>
            </a:avLst>
          </a:prstGeom>
          <a:solidFill>
            <a:srgbClr val="1A1F46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51676" y="1856232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HEDEFLER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551676" y="214884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Odaklı, kimlikle entegre platform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6551676" y="2743200"/>
            <a:ext cx="481431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>
                <a:solidFill>
                  <a:srgbClr val="FFFFFF"/>
                </a:solidFill>
              </a:rPr>
              <a:t>Kurumsal SSO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250" err="1">
                <a:solidFill>
                  <a:srgbClr val="94A3B8"/>
                </a:solidFill>
              </a:rPr>
              <a:t>Keycloak</a:t>
            </a:r>
            <a:r>
              <a:rPr lang="en-US" sz="1250">
                <a:solidFill>
                  <a:srgbClr val="94A3B8"/>
                </a:solidFill>
              </a:rPr>
              <a:t> </a:t>
            </a:r>
            <a:r>
              <a:rPr lang="en-US" sz="1250" err="1">
                <a:solidFill>
                  <a:srgbClr val="94A3B8"/>
                </a:solidFill>
              </a:rPr>
              <a:t>tabanlı</a:t>
            </a:r>
            <a:r>
              <a:rPr lang="en-US" sz="1250">
                <a:solidFill>
                  <a:srgbClr val="94A3B8"/>
                </a:solidFill>
              </a:rPr>
              <a:t> </a:t>
            </a:r>
            <a:r>
              <a:rPr lang="tr-TR" sz="1250" err="1">
                <a:solidFill>
                  <a:srgbClr val="94A3B8"/>
                </a:solidFill>
              </a:rPr>
              <a:t>single</a:t>
            </a:r>
            <a:r>
              <a:rPr lang="tr-TR" sz="1250">
                <a:solidFill>
                  <a:srgbClr val="94A3B8"/>
                </a:solidFill>
              </a:rPr>
              <a:t>-</a:t>
            </a:r>
            <a:r>
              <a:rPr lang="tr-TR" sz="1250" err="1">
                <a:solidFill>
                  <a:srgbClr val="94A3B8"/>
                </a:solidFill>
              </a:rPr>
              <a:t>sign</a:t>
            </a:r>
            <a:r>
              <a:rPr lang="tr-TR" sz="1250">
                <a:solidFill>
                  <a:srgbClr val="94A3B8"/>
                </a:solidFill>
              </a:rPr>
              <a:t>-on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500">
                <a:solidFill>
                  <a:srgbClr val="000000"/>
                </a:solidFill>
              </a:rPr>
              <a:t> 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400" b="1">
                <a:solidFill>
                  <a:srgbClr val="FFFFFF"/>
                </a:solidFill>
              </a:rPr>
              <a:t>Ders bazlı soru bankası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tr-TR" sz="1250">
                <a:solidFill>
                  <a:srgbClr val="94A3B8"/>
                </a:solidFill>
              </a:rPr>
              <a:t>Ders ekleme çıkarma, derse uygun soru ekleme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500">
                <a:solidFill>
                  <a:srgbClr val="000000"/>
                </a:solidFill>
              </a:rPr>
              <a:t> 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400" b="1" err="1">
                <a:solidFill>
                  <a:srgbClr val="FFFFFF"/>
                </a:solidFill>
              </a:rPr>
              <a:t>Sınıf</a:t>
            </a:r>
            <a:r>
              <a:rPr lang="en-US" sz="1400" b="1">
                <a:solidFill>
                  <a:srgbClr val="FFFFFF"/>
                </a:solidFill>
              </a:rPr>
              <a:t> → öğrenci → sınav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250">
                <a:solidFill>
                  <a:srgbClr val="94A3B8"/>
                </a:solidFill>
              </a:rPr>
              <a:t>Atama tabanlı erişim akışı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500">
                <a:solidFill>
                  <a:srgbClr val="000000"/>
                </a:solidFill>
              </a:rPr>
              <a:t> 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en-US" sz="1400" b="1">
                <a:solidFill>
                  <a:srgbClr val="FFFFFF"/>
                </a:solidFill>
              </a:rPr>
              <a:t>Otomatik puanlama</a:t>
            </a:r>
            <a:endParaRPr lang="en-US" sz="1400"/>
          </a:p>
          <a:p>
            <a:pPr marL="0" indent="0">
              <a:lnSpc>
                <a:spcPct val="104000"/>
              </a:lnSpc>
              <a:buNone/>
            </a:pPr>
            <a:r>
              <a:rPr lang="tr-TR" sz="1250">
                <a:solidFill>
                  <a:srgbClr val="94A3B8"/>
                </a:solidFill>
              </a:rPr>
              <a:t>Sorulara otomatik puanlar atanır, açık uçlu kısa cevaplı soruları eğitmen puanlandırabilir.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Kullanıcılar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rol, üç arayüz akışı, tek ortak kimlik katmanı.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453384" cy="4206240"/>
          </a:xfrm>
          <a:prstGeom prst="roundRect">
            <a:avLst>
              <a:gd name="adj" fmla="val 238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EĞİTMEN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Eğitmenler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29047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tr-TR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oluşturabilir istediği kategoriye uygun tekli veya çoklu soru ekleyebilir sonrasında bu sorulardan oluşan sınavlar oluşturabilirler.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tr-TR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Dersine kayıtlı öğrencileri izleyebilir, sınav sonuçlarını analiz edebilirler.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367784" y="1920240"/>
            <a:ext cx="3453384" cy="4206240"/>
          </a:xfrm>
          <a:prstGeom prst="roundRect">
            <a:avLst>
              <a:gd name="adj" fmla="val 238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642104" y="219456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ÖĞRENCİ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642104" y="26060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Öğrenciler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4642104" y="3246120"/>
            <a:ext cx="29047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tr-TR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Derslere kod ile giriş yapabilir. Derse özel eğitmenlerin açtığı sınav ve quizlere belirlenen süreler içerisinde katılabilirler.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tr-TR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istatistiklerini anında görüntüleyebilirler </a:t>
            </a:r>
          </a:p>
        </p:txBody>
      </p:sp>
      <p:sp>
        <p:nvSpPr>
          <p:cNvPr id="16" name="Shape 14"/>
          <p:cNvSpPr/>
          <p:nvPr/>
        </p:nvSpPr>
        <p:spPr>
          <a:xfrm>
            <a:off x="8186928" y="1920240"/>
            <a:ext cx="3453384" cy="4206240"/>
          </a:xfrm>
          <a:prstGeom prst="roundRect">
            <a:avLst>
              <a:gd name="adj" fmla="val 238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461248" y="219456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YÖNETİCİ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8461248" y="260604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8461248" y="3246120"/>
            <a:ext cx="29047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yönetimi, sistem geneli gözetim (denetim günlüğü), kategori yönetimi.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126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</a:t>
            </a:r>
            <a:r>
              <a:rPr lang="tr-TR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YAPAR?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Özellikler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526536" cy="1298448"/>
          </a:xfrm>
          <a:prstGeom prst="roundRect">
            <a:avLst>
              <a:gd name="adj" fmla="val 6338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9808" y="1655064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49808" y="1892808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yönetimi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749808" y="224028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zamanlama (başlangıç/bitiş), taslak/yayın yaşam döngüsü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331208" y="1508760"/>
            <a:ext cx="3526536" cy="1298448"/>
          </a:xfrm>
          <a:prstGeom prst="roundRect">
            <a:avLst>
              <a:gd name="adj" fmla="val 6338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32376" y="1655064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32376" y="1892808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bankası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4532376" y="224028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CSV </a:t>
            </a:r>
            <a:r>
              <a:rPr lang="tr-TR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 </a:t>
            </a:r>
            <a:r>
              <a:rPr lang="en-US" sz="105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içe</a:t>
            </a: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</a:t>
            </a:r>
            <a:r>
              <a:rPr lang="en-US" sz="105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aktarma</a:t>
            </a: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3 soru tipi · kategori &amp; </a:t>
            </a:r>
            <a:r>
              <a:rPr lang="en-US" sz="105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</a:t>
            </a:r>
            <a:r>
              <a:rPr lang="tr-TR" sz="105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</a:t>
            </a:r>
            <a:r>
              <a:rPr lang="tr-TR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soru</a:t>
            </a: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desteği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8113776" y="1508760"/>
            <a:ext cx="3526536" cy="1298448"/>
          </a:xfrm>
          <a:prstGeom prst="roundRect">
            <a:avLst>
              <a:gd name="adj" fmla="val 6338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314944" y="1655064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8314944" y="1892808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&amp; öğrenci yönetimi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8314944" y="224028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Katılım koduyla kayıt, üye yönetimi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48640" y="2990088"/>
            <a:ext cx="3526536" cy="1298448"/>
          </a:xfrm>
          <a:prstGeom prst="roundRect">
            <a:avLst>
              <a:gd name="adj" fmla="val 6338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49808" y="3136392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749808" y="3374136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→ sınıf ataması</a:t>
            </a:r>
            <a:endParaRPr lang="en-US" sz="1350"/>
          </a:p>
        </p:txBody>
      </p:sp>
      <p:sp>
        <p:nvSpPr>
          <p:cNvPr id="22" name="Text 20"/>
          <p:cNvSpPr/>
          <p:nvPr/>
        </p:nvSpPr>
        <p:spPr>
          <a:xfrm>
            <a:off x="749808" y="3721608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CLASSES görünürlüğü · sınıf bazlı erişim kontrolü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4331208" y="2990088"/>
            <a:ext cx="3526536" cy="1298448"/>
          </a:xfrm>
          <a:prstGeom prst="roundRect">
            <a:avLst>
              <a:gd name="adj" fmla="val 6338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532376" y="3136392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532376" y="3374136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+ manuel puanlama</a:t>
            </a:r>
            <a:endParaRPr lang="en-US" sz="1350"/>
          </a:p>
        </p:txBody>
      </p:sp>
      <p:sp>
        <p:nvSpPr>
          <p:cNvPr id="26" name="Text 24"/>
          <p:cNvSpPr/>
          <p:nvPr/>
        </p:nvSpPr>
        <p:spPr>
          <a:xfrm>
            <a:off x="4532376" y="3721608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ÇS / Doğru-Yanlış otomatik · açık uçlu için kısmi puan arayüzü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8113776" y="2990088"/>
            <a:ext cx="3526536" cy="1298448"/>
          </a:xfrm>
          <a:prstGeom prst="roundRect">
            <a:avLst>
              <a:gd name="adj" fmla="val 6338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314944" y="3136392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8314944" y="3374136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Gelişmiş istatistikler</a:t>
            </a:r>
            <a:endParaRPr lang="en-US" sz="1350"/>
          </a:p>
        </p:txBody>
      </p:sp>
      <p:sp>
        <p:nvSpPr>
          <p:cNvPr id="30" name="Text 28"/>
          <p:cNvSpPr/>
          <p:nvPr/>
        </p:nvSpPr>
        <p:spPr>
          <a:xfrm>
            <a:off x="8314944" y="3721608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Ayırt edicilik indeksi, güçlük, şık dağılımı, yüzdelik, histogram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548640" y="4471416"/>
            <a:ext cx="3526536" cy="1298448"/>
          </a:xfrm>
          <a:prstGeom prst="roundRect">
            <a:avLst>
              <a:gd name="adj" fmla="val 6338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749808" y="461772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749808" y="4855464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sistemi</a:t>
            </a:r>
            <a:endParaRPr lang="en-US" sz="1350"/>
          </a:p>
        </p:txBody>
      </p:sp>
      <p:sp>
        <p:nvSpPr>
          <p:cNvPr id="34" name="Text 32"/>
          <p:cNvSpPr/>
          <p:nvPr/>
        </p:nvSpPr>
        <p:spPr>
          <a:xfrm>
            <a:off x="749808" y="5202936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tip: yeni sınav · puanlandı · yaklaşan · sistem duyurusu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4331208" y="4471416"/>
            <a:ext cx="3526536" cy="1298448"/>
          </a:xfrm>
          <a:prstGeom prst="roundRect">
            <a:avLst>
              <a:gd name="adj" fmla="val 6338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532376" y="461772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4532376" y="4855464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 paneli + denetim günlüğü</a:t>
            </a:r>
            <a:endParaRPr lang="en-US" sz="1350"/>
          </a:p>
        </p:txBody>
      </p:sp>
      <p:sp>
        <p:nvSpPr>
          <p:cNvPr id="38" name="Text 36"/>
          <p:cNvSpPr/>
          <p:nvPr/>
        </p:nvSpPr>
        <p:spPr>
          <a:xfrm>
            <a:off x="4532376" y="5202936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Eylem/aktör/zaman damgası denetim izi · sistem geneli istatistik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8113776" y="4471416"/>
            <a:ext cx="3526536" cy="1298448"/>
          </a:xfrm>
          <a:prstGeom prst="roundRect">
            <a:avLst>
              <a:gd name="adj" fmla="val 6338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8314944" y="461772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8314944" y="4855464"/>
            <a:ext cx="312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sınav ortamı</a:t>
            </a:r>
            <a:endParaRPr lang="en-US" sz="1350"/>
          </a:p>
        </p:txBody>
      </p:sp>
      <p:sp>
        <p:nvSpPr>
          <p:cNvPr id="42" name="Text 40"/>
          <p:cNvSpPr/>
          <p:nvPr/>
        </p:nvSpPr>
        <p:spPr>
          <a:xfrm>
            <a:off x="8314944" y="5202936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sayım · otomatik gönderim · tekrar </a:t>
            </a:r>
            <a:r>
              <a:rPr lang="en-US" sz="105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r>
              <a:rPr lang="en-US" sz="10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engeli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141B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 </a:t>
            </a:r>
            <a:r>
              <a:rPr lang="en-US" sz="11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r>
              <a:rPr lang="en-US" sz="11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sınav </a:t>
            </a:r>
            <a:r>
              <a:rPr lang="en-US" sz="11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r>
              <a:rPr lang="en-US" sz="11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sınıfa ata </a:t>
            </a:r>
            <a:r>
              <a:rPr lang="en-US" sz="11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r>
              <a:rPr lang="en-US" sz="11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öğrenci çözer </a:t>
            </a:r>
            <a:r>
              <a:rPr lang="en-US" sz="11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r>
              <a:rPr lang="en-US" sz="11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otomatik/manuel puanlama </a:t>
            </a:r>
            <a:r>
              <a:rPr lang="en-US" sz="11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r>
              <a:rPr lang="en-US" sz="11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istatistik paneli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NASIL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Sistem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Mimarisi</a:t>
            </a:r>
            <a:endParaRPr lang="en-US" sz="2800" err="1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309360" cy="640080"/>
          </a:xfrm>
          <a:prstGeom prst="roundRect">
            <a:avLst>
              <a:gd name="adj" fmla="val 10000"/>
            </a:avLst>
          </a:prstGeom>
          <a:solidFill>
            <a:srgbClr val="172A52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49808" y="1600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Frontend ]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2560320" y="160020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· Vite · TS · Manrope · :5173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REST/JSON  +  Bearer JWT   ▼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6309360" cy="640080"/>
          </a:xfrm>
          <a:prstGeom prst="roundRect">
            <a:avLst>
              <a:gd name="adj" fmla="val 10000"/>
            </a:avLst>
          </a:prstGeom>
          <a:solidFill>
            <a:srgbClr val="172A52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49808" y="26426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Backend ]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2560320" y="264261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· Java 25 · JPA · :8080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48640" y="336499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48640" y="3648456"/>
            <a:ext cx="3017520" cy="640080"/>
          </a:xfrm>
          <a:prstGeom prst="roundRect">
            <a:avLst>
              <a:gd name="adj" fmla="val 1000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49808" y="3648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Keycloak ]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-731520" y="36484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 · :8180 · tema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3840480" y="3648456"/>
            <a:ext cx="3017520" cy="640080"/>
          </a:xfrm>
          <a:prstGeom prst="roundRect">
            <a:avLst>
              <a:gd name="adj" fmla="val 1000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041648" y="3648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PostgreSQL ]</a:t>
            </a:r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2560320" y="36484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· denetim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548640" y="4517136"/>
            <a:ext cx="6309360" cy="548640"/>
          </a:xfrm>
          <a:prstGeom prst="roundRect">
            <a:avLst>
              <a:gd name="adj" fmla="val 11667"/>
            </a:avLst>
          </a:prstGeom>
          <a:solidFill>
            <a:srgbClr val="141B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48640" y="451713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DB + Keycloak tek komutta hazır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7223760" y="1600200"/>
            <a:ext cx="4416552" cy="4572000"/>
          </a:xfrm>
          <a:prstGeom prst="roundRect">
            <a:avLst>
              <a:gd name="adj" fmla="val 1863"/>
            </a:avLst>
          </a:prstGeom>
          <a:solidFill>
            <a:srgbClr val="1A1F46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498080" y="1856232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TASARIM İLKELERI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7498080" y="2286000"/>
            <a:ext cx="38679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b="1">
                <a:solidFill>
                  <a:srgbClr val="FFFFFF"/>
                </a:solidFill>
              </a:rPr>
              <a:t>Frontend yalnızca REST ile backend'e konuşur</a:t>
            </a:r>
            <a:endParaRPr lang="en-US" sz="1350"/>
          </a:p>
          <a:p>
            <a:pPr marL="0" indent="0">
              <a:lnSpc>
                <a:spcPct val="104000"/>
              </a:lnSpc>
              <a:buNone/>
            </a:pPr>
            <a:r>
              <a:rPr lang="en-US" sz="1200">
                <a:solidFill>
                  <a:srgbClr val="94A3B8"/>
                </a:solidFill>
              </a:rPr>
              <a:t>Kimlik akışı dışında Keycloak ile doğrudan temas yok</a:t>
            </a:r>
            <a:endParaRPr lang="en-US" sz="1350"/>
          </a:p>
          <a:p>
            <a:pPr marL="0" indent="0">
              <a:lnSpc>
                <a:spcPct val="104000"/>
              </a:lnSpc>
              <a:buNone/>
            </a:pPr>
            <a:r>
              <a:rPr lang="en-US" sz="500">
                <a:solidFill>
                  <a:srgbClr val="000000"/>
                </a:solidFill>
              </a:rPr>
              <a:t> </a:t>
            </a:r>
            <a:endParaRPr lang="en-US" sz="1350"/>
          </a:p>
          <a:p>
            <a:pPr marL="0" indent="0">
              <a:lnSpc>
                <a:spcPct val="104000"/>
              </a:lnSpc>
              <a:buNone/>
            </a:pPr>
            <a:r>
              <a:rPr lang="en-US" sz="1350" b="1">
                <a:solidFill>
                  <a:srgbClr val="FFFFFF"/>
                </a:solidFill>
              </a:rPr>
              <a:t>Kimlik tamamen Keycloak'a devredildi</a:t>
            </a:r>
            <a:endParaRPr lang="en-US" sz="1350"/>
          </a:p>
          <a:p>
            <a:pPr marL="0" indent="0">
              <a:lnSpc>
                <a:spcPct val="104000"/>
              </a:lnSpc>
              <a:buNone/>
            </a:pPr>
            <a:r>
              <a:rPr lang="en-US" sz="1200">
                <a:solidFill>
                  <a:srgbClr val="94A3B8"/>
                </a:solidFill>
              </a:rPr>
              <a:t>Uygulamada şifre/oturum yok — yalnızca JWT doğrulama</a:t>
            </a:r>
            <a:endParaRPr lang="en-US" sz="1350"/>
          </a:p>
          <a:p>
            <a:pPr marL="0" indent="0">
              <a:lnSpc>
                <a:spcPct val="104000"/>
              </a:lnSpc>
              <a:buNone/>
            </a:pPr>
            <a:r>
              <a:rPr lang="en-US" sz="500">
                <a:solidFill>
                  <a:srgbClr val="000000"/>
                </a:solidFill>
              </a:rPr>
              <a:t> </a:t>
            </a:r>
            <a:endParaRPr lang="en-US" sz="1350"/>
          </a:p>
          <a:p>
            <a:pPr marL="0" indent="0">
              <a:lnSpc>
                <a:spcPct val="104000"/>
              </a:lnSpc>
              <a:buNone/>
            </a:pPr>
            <a:r>
              <a:rPr lang="en-US" sz="1350" b="1">
                <a:solidFill>
                  <a:srgbClr val="FFFFFF"/>
                </a:solidFill>
              </a:rPr>
              <a:t>Tek komutla geliştirme ortamı</a:t>
            </a:r>
            <a:endParaRPr lang="en-US" sz="1350"/>
          </a:p>
          <a:p>
            <a:pPr marL="0" indent="0">
              <a:lnSpc>
                <a:spcPct val="104000"/>
              </a:lnSpc>
              <a:buNone/>
            </a:pPr>
            <a:r>
              <a:rPr lang="en-US" sz="1200">
                <a:solidFill>
                  <a:srgbClr val="94A3B8"/>
                </a:solidFill>
              </a:rPr>
              <a:t>Docker Compose, DB + Keycloak'ı hazır getirir</a:t>
            </a:r>
            <a:endParaRPr lang="en-US"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NASIL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Yığını</a:t>
            </a:r>
            <a:endParaRPr lang="en-US" sz="28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396849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A5B4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Katman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A5B4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Araçlar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React 19 · Vite · TypeScript · Tailwind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Spring Boot · Java 25 · JPA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Kimlik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Keycloak (özel tema + seed realm)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Veritabanı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PostgreSQL (Docker Compose)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Derleme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Maven · npm · Docker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Yapay Zekâ Asistanları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Code · Codex · Stitch (Google)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Modeli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91672" cy="4023360"/>
          </a:xfrm>
          <a:prstGeom prst="roundRect">
            <a:avLst>
              <a:gd name="adj" fmla="val 2045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103601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──── Role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├──► Classroom ──► Enrollment   (katılım kodu)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   │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   └──► ExamAssignment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                  │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└──► Exam ◄──────────┘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├──► ExamQuestion ──► Question ──► Category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├──► ExamQuestionPool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│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└──► StudentExam ──► StudentExamQuestion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│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└──► Answer ──► Grade</a:t>
            </a:r>
            <a:endParaRPr lang="en-US" sz="1400"/>
          </a:p>
          <a:p>
            <a:pPr marL="0" indent="0">
              <a:lnSpc>
                <a:spcPct val="112000"/>
              </a:lnSpc>
              <a:buNone/>
            </a:pPr>
            <a:endParaRPr lang="en-US" sz="1400"/>
          </a:p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AuditLog   ·   Notification      (sistem geneli, çapraz kesen)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141B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varlık</a:t>
            </a:r>
            <a:r>
              <a:rPr lang="en-US" sz="11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1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60+ REST ucu</a:t>
            </a:r>
            <a:r>
              <a:rPr lang="en-US" sz="11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r>
              <a:rPr lang="en-US" sz="11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frontend sayfası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SÜREÇ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Kullandığımız Yapay Zekâ Araçları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453384" cy="4297680"/>
          </a:xfrm>
          <a:prstGeom prst="roundRect">
            <a:avLst>
              <a:gd name="adj" fmla="val 2383"/>
            </a:avLst>
          </a:prstGeom>
          <a:solidFill>
            <a:srgbClr val="1A1F46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BIRINCIL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29047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eşli programcı: backend/frontend kodu, refactor, hata ayıklama, dokümantasyon, güvenlik sıkılaştırma, hook mimarisi. Proje boyunca en yoğun kullanılan araç.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367784" y="1691640"/>
            <a:ext cx="3453384" cy="4297680"/>
          </a:xfrm>
          <a:prstGeom prst="roundRect">
            <a:avLst>
              <a:gd name="adj" fmla="val 238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42104" y="1947672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MIMARI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4642104" y="2258568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4642104" y="2880360"/>
            <a:ext cx="29047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tartışmalar ve karar noktaları: "X vs Y" alternatifleri, varlık ilişkisi tartışmaları, API sözleşmesi kararları.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8186928" y="1691640"/>
            <a:ext cx="3453384" cy="4297680"/>
          </a:xfrm>
          <a:prstGeom prst="roundRect">
            <a:avLst>
              <a:gd name="adj" fmla="val 238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461248" y="1947672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TASARIM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8461248" y="2258568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(Google)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8461248" y="2880360"/>
            <a:ext cx="29047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tasarımı: QuizLab tasarım sistemi bileşen düzeni, renk paleti önerileri ve sayfa taslakları Stitch ile üretildi — ekip onayı sonrası Claude Code ile koda çevrildi.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SÜREÇ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Yaşam Döngüsü Boyunca Yapay Zekâyı Nasıl Kullandık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01468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40279" y="1539766"/>
            <a:ext cx="2235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740279" y="1794257"/>
            <a:ext cx="22357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Gereksinim analizi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731520" y="2131428"/>
            <a:ext cx="22357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Paylaşılan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proje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dokümanını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inceledik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,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yapay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zekâya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verdik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ve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karşılıklı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tartışarak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 user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story'leri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ve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SRS'i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(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sistem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gereksinim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spesifikasyonu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) 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çıkardık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.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Üretilen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her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doküman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tüm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takımca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detaylıca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incelenip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onaylandı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.</a:t>
            </a:r>
            <a:endParaRPr lang="tr-TR"/>
          </a:p>
          <a:p>
            <a:pPr>
              <a:lnSpc>
                <a:spcPct val="112000"/>
              </a:lnSpc>
            </a:pPr>
            <a:br>
              <a:rPr lang="en-US"/>
            </a:b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78708" y="1463040"/>
            <a:ext cx="2601468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570347" y="1539766"/>
            <a:ext cx="2235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570347" y="1794257"/>
            <a:ext cx="22357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tasarım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3561588" y="2131428"/>
            <a:ext cx="22357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Gereksinimlerden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yola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çıkarak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backend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ekibi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 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mimariye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karar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verdi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 —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varlık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ilişkileri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,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katman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ayrımı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ve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API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sözleşmesi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bu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aşamada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netleşti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.</a:t>
            </a:r>
            <a:endParaRPr lang="tr-TR"/>
          </a:p>
          <a:p>
            <a:pPr>
              <a:lnSpc>
                <a:spcPct val="112000"/>
              </a:lnSpc>
            </a:pPr>
            <a:br>
              <a:rPr lang="en-US"/>
            </a:br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08776" y="1463040"/>
            <a:ext cx="2601468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00415" y="1539766"/>
            <a:ext cx="2235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6400415" y="1794257"/>
            <a:ext cx="22357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tasarımı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391656" y="2131428"/>
            <a:ext cx="22357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Akademik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bir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ürüne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yakışan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tasarım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nasıl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olmalı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? Dark/light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tema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,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renk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paleti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ve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akademik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dil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 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ekipçe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tartışılıp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kararlaştırıldı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.</a:t>
            </a:r>
            <a:endParaRPr lang="tr-TR"/>
          </a:p>
          <a:p>
            <a:pPr>
              <a:lnSpc>
                <a:spcPct val="112000"/>
              </a:lnSpc>
            </a:pPr>
            <a:br>
              <a:rPr lang="en-US"/>
            </a:br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38844" y="1463040"/>
            <a:ext cx="2601468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230483" y="1539766"/>
            <a:ext cx="22357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9230483" y="1794257"/>
            <a:ext cx="22357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>
                <a:solidFill>
                  <a:srgbClr val="FFFFFF"/>
                </a:solidFill>
                <a:ea typeface="+mn-lt"/>
                <a:cs typeface="+mn-lt"/>
              </a:rPr>
              <a:t>Stitch </a:t>
            </a:r>
            <a:r>
              <a:rPr lang="en-US" sz="1300" b="1" err="1">
                <a:solidFill>
                  <a:srgbClr val="FFFFFF"/>
                </a:solidFill>
                <a:ea typeface="+mn-lt"/>
                <a:cs typeface="+mn-lt"/>
              </a:rPr>
              <a:t>ile</a:t>
            </a:r>
            <a:r>
              <a:rPr lang="en-US" sz="1300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300" b="1" err="1">
                <a:solidFill>
                  <a:srgbClr val="FFFFFF"/>
                </a:solidFill>
                <a:ea typeface="+mn-lt"/>
                <a:cs typeface="+mn-lt"/>
              </a:rPr>
              <a:t>Tasarım</a:t>
            </a:r>
            <a:r>
              <a:rPr lang="en-US" sz="1300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300" b="1" err="1">
                <a:solidFill>
                  <a:srgbClr val="FFFFFF"/>
                </a:solidFill>
                <a:ea typeface="+mn-lt"/>
                <a:cs typeface="+mn-lt"/>
              </a:rPr>
              <a:t>Üretimi</a:t>
            </a:r>
            <a:endParaRPr lang="tr-TR" err="1"/>
          </a:p>
        </p:txBody>
      </p:sp>
      <p:sp>
        <p:nvSpPr>
          <p:cNvPr id="26" name="Text 24"/>
          <p:cNvSpPr/>
          <p:nvPr/>
        </p:nvSpPr>
        <p:spPr>
          <a:xfrm>
            <a:off x="9221724" y="2131428"/>
            <a:ext cx="22357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Sistem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gereksinimlerinden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 Claude Code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ile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promptlar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 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yazıldı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; Google Stitch ana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sayfa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için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birden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çok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varyasyon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üretti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. Biri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seçilip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diğer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sayfalar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onun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üzerinden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üretildi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.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Tasarımlar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 hem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görsel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hem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kod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olarak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 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indirilip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ekip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onayına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 </a:t>
            </a:r>
            <a:r>
              <a:rPr lang="en-US" sz="1000" err="1">
                <a:solidFill>
                  <a:srgbClr val="94A3B8"/>
                </a:solidFill>
                <a:ea typeface="+mn-lt"/>
                <a:cs typeface="+mn-lt"/>
              </a:rPr>
              <a:t>sunuldu</a:t>
            </a:r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.</a:t>
            </a:r>
            <a:endParaRPr lang="tr-TR"/>
          </a:p>
          <a:p>
            <a:pPr>
              <a:lnSpc>
                <a:spcPct val="112000"/>
              </a:lnSpc>
            </a:pPr>
            <a:br>
              <a:rPr lang="en-US"/>
            </a:br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3538728"/>
            <a:ext cx="3544824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14003" y="3641729"/>
            <a:ext cx="3179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714003" y="3861185"/>
            <a:ext cx="317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err="1">
                <a:solidFill>
                  <a:srgbClr val="FFFFFF"/>
                </a:solidFill>
                <a:ea typeface="+mn-lt"/>
                <a:cs typeface="+mn-lt"/>
              </a:rPr>
              <a:t>Kodlama</a:t>
            </a:r>
            <a:endParaRPr lang="tr-TR" err="1"/>
          </a:p>
        </p:txBody>
      </p:sp>
      <p:sp>
        <p:nvSpPr>
          <p:cNvPr id="31" name="Text 29"/>
          <p:cNvSpPr/>
          <p:nvPr/>
        </p:nvSpPr>
        <p:spPr>
          <a:xfrm>
            <a:off x="714003" y="4172081"/>
            <a:ext cx="3179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test iskeletleri yapay zekâ ile taslaklandı; entegrasyon &amp; uçtan uca senaryolar elle yürütüldü.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322064" y="3538728"/>
            <a:ext cx="3544824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487427" y="3641729"/>
            <a:ext cx="3179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4487427" y="3861185"/>
            <a:ext cx="317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ea typeface="+mn-lt"/>
                <a:cs typeface="+mn-lt"/>
              </a:rPr>
              <a:t>Test</a:t>
            </a:r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4487427" y="4172081"/>
            <a:ext cx="3179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+ stack trace yapay zekâya verildi; kök-neden hipotezleri, sonra insanlar doğrulayıp düzeltti.</a:t>
            </a:r>
            <a:endParaRPr lang="en-US" sz="1000"/>
          </a:p>
        </p:txBody>
      </p:sp>
      <p:sp>
        <p:nvSpPr>
          <p:cNvPr id="37" name="Shape 35"/>
          <p:cNvSpPr/>
          <p:nvPr/>
        </p:nvSpPr>
        <p:spPr>
          <a:xfrm>
            <a:off x="8095488" y="3538728"/>
            <a:ext cx="3544824" cy="1874520"/>
          </a:xfrm>
          <a:prstGeom prst="roundRect">
            <a:avLst>
              <a:gd name="adj" fmla="val 439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8260851" y="3641729"/>
            <a:ext cx="3179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8260851" y="3861185"/>
            <a:ext cx="317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Dokümantasyon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sürekli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300"/>
          </a:p>
        </p:txBody>
      </p:sp>
      <p:sp>
        <p:nvSpPr>
          <p:cNvPr id="41" name="Text 39"/>
          <p:cNvSpPr/>
          <p:nvPr/>
        </p:nvSpPr>
        <p:spPr>
          <a:xfrm>
            <a:off x="8260851" y="4172081"/>
            <a:ext cx="3179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SRS, API açıklamaları, Keycloak seed dokümanları ve devir notları yapay zekâ desteğiyle.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548640" y="5596128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48640" y="5596128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"Yapay zekâ taslakları hazırladı. Ekip inceledi ve karar verdi. Hiçbir şey okunmadan birleştirilmedi."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SÜREÇ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Gerçek Hikâyemiz: </a:t>
            </a:r>
            <a:r>
              <a:rPr lang="en-US" sz="28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Üç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Faz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483864" cy="3200400"/>
          </a:xfrm>
          <a:prstGeom prst="roundRect">
            <a:avLst>
              <a:gd name="adj" fmla="val 2286"/>
            </a:avLst>
          </a:prstGeom>
          <a:solidFill>
            <a:srgbClr val="2A241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77240" y="180136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FAZ 01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777240" y="2112264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Başlangıç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ve roller netleşmeden kodlamaya başladık. Yapay zekâ sayesinde backend + frontend'i paralel ve hızlı yazdık. "Sonra düzeltiriz" güvenli göründü.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4352544" y="1600200"/>
            <a:ext cx="3483864" cy="3200400"/>
          </a:xfrm>
          <a:prstGeom prst="roundRect">
            <a:avLst>
              <a:gd name="adj" fmla="val 2286"/>
            </a:avLst>
          </a:prstGeom>
          <a:solidFill>
            <a:srgbClr val="2A241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81144" y="180136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FAZ 02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81144" y="2112264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r-TR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Hataların belirlenmesi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4581144" y="2788920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uçtan uca testler gösterdi: UI tutarsız, izinler belirsiz, kapsam tanımsız. Hatalar tek seferlik değildi — mimariydi: her düzeltme bir yenisini doğurdu.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8156448" y="1600200"/>
            <a:ext cx="3483864" cy="3200400"/>
          </a:xfrm>
          <a:prstGeom prst="roundRect">
            <a:avLst>
              <a:gd name="adj" fmla="val 2286"/>
            </a:avLst>
          </a:prstGeom>
          <a:solidFill>
            <a:srgbClr val="0E2A22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385048" y="180136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FAZ 03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8385048" y="2112264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Toparlanma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8385048" y="2788920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kod incelemesi. "QuizLab / Academic Precision" tasarım sistemi (Manrope, navy/indigo, role-aware Sidebar). 11 sayfa taşındı. Roller netleşti, denetim günlüğü eklendi.</a:t>
            </a:r>
            <a:endParaRPr lang="en-US" sz="1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KANIT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Üretimi Çıktılar ve Doğrulama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somut örnek: yapay zekâ ne üretti, insan nerede müdahale etti, ne kararlaştırıldı.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453384" cy="3383280"/>
          </a:xfrm>
          <a:prstGeom prst="roundRect">
            <a:avLst>
              <a:gd name="adj" fmla="val 2432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77240" y="2139696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KODU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777240" y="2414016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ucu üretimi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2996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İstem: "Yetki kontrolü ve çift gönderim engeli olan StudentExam submit ucu."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→"/>
            </a:pP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ilk sürümü taslakladı</a:t>
            </a:r>
            <a:endParaRPr lang="en-US" sz="1050"/>
          </a:p>
          <a:p>
            <a:pPr marL="165100" indent="-165100">
              <a:spcAft>
                <a:spcPts val="400"/>
              </a:spcAft>
              <a:buSzPct val="100000"/>
              <a:buChar char="→"/>
            </a:pP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Ekip yarış-koşulu riskini yakaladı</a:t>
            </a:r>
            <a:endParaRPr lang="en-US" sz="1050"/>
          </a:p>
          <a:p>
            <a:pPr marL="165100" indent="-165100">
              <a:spcAft>
                <a:spcPts val="400"/>
              </a:spcAft>
              <a:buSzPct val="100000"/>
              <a:buChar char="→"/>
            </a:pP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Manuel düzeltme + inceleme</a:t>
            </a:r>
            <a:endParaRPr lang="en-US" sz="1050"/>
          </a:p>
          <a:p>
            <a:pPr marL="165100" indent="-165100">
              <a:spcAft>
                <a:spcPts val="400"/>
              </a:spcAft>
              <a:buSzPct val="100000"/>
              <a:buChar char="✓"/>
            </a:pPr>
            <a:r>
              <a:rPr lang="en-US" sz="105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birleştir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367784" y="1920240"/>
            <a:ext cx="3453384" cy="3383280"/>
          </a:xfrm>
          <a:prstGeom prst="roundRect">
            <a:avLst>
              <a:gd name="adj" fmla="val 2432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96384" y="2139696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ALAN MODELLEME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596384" y="2414016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Varlık ilişkisi kararı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4596384" y="2880360"/>
            <a:ext cx="2996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ile tartışma: "Exam–Classroom ilişkisi nasıl modellenmeli?"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596384" y="379476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→"/>
            </a:pP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alternatifleri sıraladı</a:t>
            </a:r>
            <a:endParaRPr lang="en-US" sz="1050"/>
          </a:p>
          <a:p>
            <a:pPr marL="165100" indent="-165100">
              <a:spcAft>
                <a:spcPts val="400"/>
              </a:spcAft>
              <a:buSzPct val="100000"/>
              <a:buChar char="→"/>
            </a:pP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Ekip ödünleşimleri tarttı</a:t>
            </a:r>
            <a:endParaRPr lang="en-US" sz="1050"/>
          </a:p>
          <a:p>
            <a:pPr marL="165100" indent="-165100">
              <a:spcAft>
                <a:spcPts val="400"/>
              </a:spcAft>
              <a:buSzPct val="100000"/>
              <a:buChar char="→"/>
            </a:pP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Karar: ExamAssignment bağlantı varlığı</a:t>
            </a:r>
            <a:endParaRPr lang="en-US" sz="1050"/>
          </a:p>
          <a:p>
            <a:pPr marL="165100" indent="-165100">
              <a:spcAft>
                <a:spcPts val="400"/>
              </a:spcAft>
              <a:buSzPct val="100000"/>
              <a:buChar char="✓"/>
            </a:pPr>
            <a:r>
              <a:rPr lang="en-US" sz="105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İnsan eliyle mimari karar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8186928" y="1920240"/>
            <a:ext cx="3453384" cy="3383280"/>
          </a:xfrm>
          <a:prstGeom prst="roundRect">
            <a:avLst>
              <a:gd name="adj" fmla="val 2432"/>
            </a:avLst>
          </a:prstGeom>
          <a:solidFill>
            <a:srgbClr val="1A1F46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8415528" y="2139696"/>
            <a:ext cx="2996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TASARIM SISTEMI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8415528" y="2414016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Taslaktan koda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8415528" y="2880360"/>
            <a:ext cx="2996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QuizLab taslakları ve bileşen düzeni Stitch ile üretildi.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8415528" y="3794760"/>
            <a:ext cx="2996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→"/>
            </a:pP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Stitch taslakları üretti</a:t>
            </a:r>
            <a:endParaRPr lang="en-US" sz="1050"/>
          </a:p>
          <a:p>
            <a:pPr marL="165100" indent="-165100">
              <a:spcAft>
                <a:spcPts val="400"/>
              </a:spcAft>
              <a:buSzPct val="100000"/>
              <a:buChar char="→"/>
            </a:pP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Ekip Manrope + navy/indigo'yu onayladı</a:t>
            </a:r>
            <a:endParaRPr lang="en-US" sz="1050"/>
          </a:p>
          <a:p>
            <a:pPr marL="165100" indent="-165100">
              <a:spcAft>
                <a:spcPts val="400"/>
              </a:spcAft>
              <a:buSzPct val="100000"/>
              <a:buChar char="→"/>
            </a:pPr>
            <a:r>
              <a:rPr lang="en-US" sz="1050">
                <a:solidFill>
                  <a:srgbClr val="C9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React'e çevirdi</a:t>
            </a:r>
            <a:endParaRPr lang="en-US" sz="1050"/>
          </a:p>
          <a:p>
            <a:pPr marL="165100" indent="-165100">
              <a:spcAft>
                <a:spcPts val="400"/>
              </a:spcAft>
              <a:buSzPct val="100000"/>
              <a:buChar char="✓"/>
            </a:pPr>
            <a:r>
              <a:rPr lang="en-US" sz="105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sayfa taşındı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161B3C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"Yapay zekâ çıktı üretir; doğrulama sorumluluğu insanlarda kalır."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SÜREÇ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Karşılaştığımız Zorluklar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62956" cy="2240280"/>
          </a:xfrm>
          <a:prstGeom prst="roundRect">
            <a:avLst>
              <a:gd name="adj" fmla="val 367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1837944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KAPSAM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822960" y="213055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kayması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bazlı erişim kontrolü ilk planda yoktu; geliştirme ortasında eklendi ve mevcut varlık modelini bozdu.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2240280"/>
          </a:xfrm>
          <a:prstGeom prst="roundRect">
            <a:avLst>
              <a:gd name="adj" fmla="val 367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51676" y="1837944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ROLLER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551676" y="213055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sınırlarının geç netleşmesi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6551676" y="2651760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Eğitmen / öğrenci / yönetici izinleri ancak uçtan uca testte çakışmaya başlayınca yazıya döküldü.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62956" cy="2240280"/>
          </a:xfrm>
          <a:prstGeom prst="roundRect">
            <a:avLst>
              <a:gd name="adj" fmla="val 367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22960" y="4352544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822960" y="464515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tutarsızlığı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ekip üyeleri farklı sayfalar yazdı; tasarım sistemi olmadan bileşenler görsel olarak birbirinden uzaklaştı.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6277356" y="4114800"/>
            <a:ext cx="5362956" cy="2240280"/>
          </a:xfrm>
          <a:prstGeom prst="roundRect">
            <a:avLst>
              <a:gd name="adj" fmla="val 367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551676" y="4352544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ENTEGRASYON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6551676" y="4645152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çalışmada merge çakışmaları</a:t>
            </a:r>
            <a:endParaRPr lang="en-US" sz="1700"/>
          </a:p>
        </p:txBody>
      </p:sp>
      <p:sp>
        <p:nvSpPr>
          <p:cNvPr id="22" name="Text 20"/>
          <p:cNvSpPr/>
          <p:nvPr/>
        </p:nvSpPr>
        <p:spPr>
          <a:xfrm>
            <a:off x="6551676" y="5166360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Kararlı API sözleşmesi geç tanımlandı; frontend ve backend aynı uçlardan farklı şeyler bekledi.</a:t>
            </a:r>
            <a:endParaRPr lang="en-US"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RISKLER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Destekli Geliştirmenin Sınırları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Gözler açık: istemler ne kadar iyi olursa olsun yapay zekânın tıkandığı yerler.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514344" cy="2011680"/>
          </a:xfrm>
          <a:prstGeom prst="roundRect">
            <a:avLst>
              <a:gd name="adj" fmla="val 4091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77240" y="212140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Makul ama yanlış çıktı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zekâ, derlenen ve iyi okunan ama anlamsal olarak hatalı veya bir uç durumu kaçıran kodu özgüvenle üretir.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4337304" y="1920240"/>
            <a:ext cx="3514344" cy="2011680"/>
          </a:xfrm>
          <a:prstGeom prst="roundRect">
            <a:avLst>
              <a:gd name="adj" fmla="val 4091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565904" y="212140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565904" y="2450592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Otomasyon yanlılığı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565904" y="29260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yapay zekâ çıktısına varsayılan olarak güvenmeye başlar; inceleme göstermelik olur; ince hatalar sızar.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8125968" y="1920240"/>
            <a:ext cx="3514344" cy="2011680"/>
          </a:xfrm>
          <a:prstGeom prst="roundRect">
            <a:avLst>
              <a:gd name="adj" fmla="val 4091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354568" y="212140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8354568" y="2450592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kararları devredilemez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8354568" y="29260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kullanıcılarınızı, pedagojinizi, kurumsal kurallarınızı bilmez. Kapsam ve değer kararları insanlarda kalır.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514344" cy="2011680"/>
          </a:xfrm>
          <a:prstGeom prst="roundRect">
            <a:avLst>
              <a:gd name="adj" fmla="val 4091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77240" y="4361688"/>
            <a:ext cx="3057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77240" y="4690872"/>
            <a:ext cx="3057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Güvenlik-kritik kod riskli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Yetkilendirme, token yönetimi, denetim izleri — bunlar yapay zekâ varsayılanları değil, insan yazımı ve dikkatli inceleme ister.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4337304" y="4160520"/>
            <a:ext cx="7303008" cy="2011680"/>
          </a:xfrm>
          <a:prstGeom prst="roundRect">
            <a:avLst>
              <a:gd name="adj" fmla="val 4091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565904" y="4361688"/>
            <a:ext cx="684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4565904" y="4690872"/>
            <a:ext cx="6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 ve maliyet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4565904" y="5166360"/>
            <a:ext cx="6845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maliyetleri, gecikme, rate limit, vendor lock-in. Tek bir yapay zekâ aracına bağımlılık başlı başına teknik risktir.</a:t>
            </a:r>
            <a:endParaRPr lang="en-US" sz="1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SÜREÇ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Devrettik, Neyi Kendimiz Yazdık</a:t>
            </a:r>
            <a:endParaRPr lang="en-US" sz="28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00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A5B4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Yapay Zekâ Ağırlıklı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İnsan Kontrolünde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CRUD uçları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Puanlama mantığı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 iskeletleri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Mimari kararlar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Dokümantasyon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Yetkilendirme kontrolleri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>
                          <a:solidFill>
                            <a:srgbClr val="C9D3E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Boilerplate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"Neden böyle" soruları</a:t>
                      </a:r>
                      <a:endParaRPr lang="en-US" sz="14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50800" marB="50800" anchor="ctr">
                    <a:lnL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DERSLER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Çıkarılan Dersler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ile hız kazanmak planlama disiplininin yerini tutmaz — onu daha da kritik yapar.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1005840" y="2788920"/>
            <a:ext cx="10177272" cy="0"/>
          </a:xfrm>
          <a:prstGeom prst="line">
            <a:avLst/>
          </a:prstGeom>
          <a:noFill/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600">
                <a:solidFill>
                  <a:srgbClr val="C9D3E2"/>
                </a:solidFill>
              </a:rPr>
              <a:t>Önce spec → fazlara böl → her fazı bitir ve test et → ancak o zaman devam et.</a:t>
            </a:r>
            <a:endParaRPr lang="en-US" sz="160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600">
                <a:solidFill>
                  <a:srgbClr val="C9D3E2"/>
                </a:solidFill>
              </a:rPr>
              <a:t>"Yapay zekâ yapabilir" ≠ "gerçekten ihtiyacımız var". Kapsam kararları yapay zekâya devredilemez.</a:t>
            </a:r>
            <a:endParaRPr lang="en-US" sz="160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600">
                <a:solidFill>
                  <a:srgbClr val="C9D3E2"/>
                </a:solidFill>
              </a:rPr>
              <a:t>Kararlı bir API + dal (branch) izolasyonu paralel çalışmamızı kurtardı.</a:t>
            </a:r>
            <a:endParaRPr lang="en-US" sz="160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600">
                <a:solidFill>
                  <a:srgbClr val="C9D3E2"/>
                </a:solidFill>
              </a:rPr>
              <a:t>Proje ortasında kod incelemesi pahalıdır — ama zamanında yapılırsa projeyi kurtarır.</a:t>
            </a:r>
            <a:endParaRPr 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KALITE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Stratejisi ve Kalite Güvencesi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62956" cy="4572000"/>
          </a:xfrm>
          <a:prstGeom prst="roundRect">
            <a:avLst>
              <a:gd name="adj" fmla="val 180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1856232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 YAPTIK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+ yapay zekâ destekli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481431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C9D3E2"/>
                </a:solidFill>
              </a:rPr>
              <a:t>Manuel uçtan uca testler — tüm rol senaryoları elle gezildi</a:t>
            </a:r>
            <a:endParaRPr lang="en-US" sz="135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C9D3E2"/>
                </a:solidFill>
              </a:rPr>
              <a:t>Servis katmanı için yapay zekâ taslağı birim test iskeletleri</a:t>
            </a:r>
            <a:endParaRPr lang="en-US" sz="135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C9D3E2"/>
                </a:solidFill>
              </a:rPr>
              <a:t>Kod incelemesi — Faz 3'te her kritik modül incelendi</a:t>
            </a:r>
            <a:endParaRPr lang="en-US" sz="135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50">
                <a:solidFill>
                  <a:srgbClr val="C9D3E2"/>
                </a:solidFill>
              </a:rPr>
              <a:t>Keycloak güvenlik testleri — yetkisiz erişim denemeleri elle doğrulandı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4572000"/>
          </a:xfrm>
          <a:prstGeom prst="roundRect">
            <a:avLst>
              <a:gd name="adj" fmla="val 1800"/>
            </a:avLst>
          </a:prstGeom>
          <a:solidFill>
            <a:srgbClr val="1A1F46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51676" y="1856232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 ÖĞRENDIK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551676" y="2148840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boşluk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6551676" y="2697480"/>
            <a:ext cx="48143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>
                <a:solidFill>
                  <a:srgbClr val="C9D3E2"/>
                </a:solidFill>
              </a:rPr>
              <a:t>Otomatik test altyapısı vibe coding hızının gerisinde kaldı</a:t>
            </a:r>
            <a:endParaRPr lang="en-US" sz="130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>
                <a:solidFill>
                  <a:srgbClr val="C9D3E2"/>
                </a:solidFill>
              </a:rPr>
              <a:t>Her fazın çıkış kriteri çalışan + test edilmiş bir demo olmalı</a:t>
            </a:r>
            <a:endParaRPr lang="en-US" sz="130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>
                <a:solidFill>
                  <a:srgbClr val="C9D3E2"/>
                </a:solidFill>
              </a:rPr>
              <a:t>CI test geçidi yol haritasında 1. sırada</a:t>
            </a:r>
            <a:endParaRPr lang="en-US" sz="130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300">
                <a:solidFill>
                  <a:srgbClr val="C9D3E2"/>
                </a:solidFill>
              </a:rPr>
              <a:t>Test disiplini bir faz değil — bir fazı kapatmanın sözleşmesidir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6551676" y="5120640"/>
            <a:ext cx="4814316" cy="822960"/>
          </a:xfrm>
          <a:prstGeom prst="roundRect">
            <a:avLst>
              <a:gd name="adj" fmla="val 6667"/>
            </a:avLst>
          </a:prstGeom>
          <a:solidFill>
            <a:srgbClr val="161B3C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734556" y="5166360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disiplini biriken kodun gerisinde kaldı — vibe coding'de neden "önce-spec" yaklaşımının önemli olduğunun en somut kanıtı.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GÜVEN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Güvenlik, Gizlilik ve Etik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453384" cy="4297680"/>
          </a:xfrm>
          <a:prstGeom prst="roundRect">
            <a:avLst>
              <a:gd name="adj" fmla="val 238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GÜVENLIK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ile durumsuz kimlik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904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tabanlı durumsuz kimlik doğrulama; uygulama şifre tutmaz. Uçlar @PreAuthorize ile korunur. Her hassas eylem aktör + zaman damgasıyla denetim günlüğüne yazılır.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367784" y="1691640"/>
            <a:ext cx="3453384" cy="4297680"/>
          </a:xfrm>
          <a:prstGeom prst="roundRect">
            <a:avLst>
              <a:gd name="adj" fmla="val 238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42104" y="1947672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GIZLILIK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4642104" y="224028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Rol-kapsamlı veri erişimi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4642104" y="3017520"/>
            <a:ext cx="2904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verisine yalnızca ilgili eğitmen ve yönetici erişir. Sınav sonuçları rol-duyarlı API ile sunulur; bir öğrenci başka bir öğrencinin sonuçlarına erişemez.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8186928" y="1691640"/>
            <a:ext cx="3453384" cy="4297680"/>
          </a:xfrm>
          <a:prstGeom prst="roundRect">
            <a:avLst>
              <a:gd name="adj" fmla="val 2383"/>
            </a:avLst>
          </a:prstGeom>
          <a:solidFill>
            <a:srgbClr val="1A1F46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461248" y="1947672"/>
            <a:ext cx="2904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ETIK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8461248" y="224028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 yapay zekâ kullanımı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8461248" y="3017520"/>
            <a:ext cx="2904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çıktısı incelenmeden hiç birleştirilmedi. Güvenlik-kritik kod (yetkilendirme, puanlama mantığı) insanlar tarafından yazıldı. Yapay zekâ kullanımı bu sunumda açıkça belgelenmiştir.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YÖNTEM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Baştan Yapsak: Yapay Zekâ-Yerli İş Akışı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72591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>
                <a:solidFill>
                  <a:srgbClr val="C9D3E2"/>
                </a:solidFill>
              </a:rPr>
              <a:t>Yapay zekâ ile Soru-Cevap → bir proje vizyon dokümanı üret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>
                <a:solidFill>
                  <a:srgbClr val="C9D3E2"/>
                </a:solidFill>
              </a:rPr>
              <a:t>Aynı oturumda: açık bir kapsam-içi / kapsam-dışı listesi tanımla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>
                <a:solidFill>
                  <a:srgbClr val="C9D3E2"/>
                </a:solidFill>
              </a:rPr>
              <a:t>Roller netleşmeden kod yok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>
                <a:solidFill>
                  <a:srgbClr val="C9D3E2"/>
                </a:solidFill>
              </a:rPr>
              <a:t>Faz 1 spec → uygula → test → demo → onay → ancak o zaman Faz 2'ye geç</a:t>
            </a:r>
            <a:endParaRPr lang="en-US" sz="16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>
                <a:solidFill>
                  <a:srgbClr val="C9D3E2"/>
                </a:solidFill>
              </a:rPr>
              <a:t>Her fazın sonunda mini-retro: "Neyi yapay zekâya devrettik, bunların hangisi yanlıştı?"</a:t>
            </a:r>
            <a:endParaRPr 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SONRAKI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Geliştirmeler</a:t>
            </a:r>
            <a:endParaRPr lang="en-US" sz="280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tr-TR" sz="13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İÇİN OLASI GELECEK İYİLEŞTİRME VE GELİŞTİRMELERİ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22960" y="2139696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822960" y="2450592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</a:t>
            </a:r>
            <a:r>
              <a:rPr lang="en-US" sz="17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</a:t>
            </a: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bildirimleri</a:t>
            </a:r>
            <a:r>
              <a:rPr lang="tr-TR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anti-</a:t>
            </a:r>
            <a:r>
              <a:rPr lang="tr-TR" sz="17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</a:t>
            </a:r>
            <a:r>
              <a:rPr lang="tr-TR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kontrolleri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tr-TR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Sınavlarla veya sistemle alakalı gerçek zamanlı bildirimler.</a:t>
            </a:r>
          </a:p>
          <a:p>
            <a:pPr marL="0" indent="0">
              <a:lnSpc>
                <a:spcPct val="128000"/>
              </a:lnSpc>
              <a:buNone/>
            </a:pPr>
            <a:r>
              <a:rPr lang="tr-TR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anında haksızlığa karşı güvenlik önlemleri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277356" y="192024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551676" y="2139696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551676" y="2450592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</a:t>
            </a:r>
            <a:r>
              <a:rPr lang="en-US" sz="17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bankası</a:t>
            </a:r>
            <a:r>
              <a:rPr lang="tr-TR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analitiği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6551676" y="292608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havuzunu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büyütüp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sorunun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güçlük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ayırt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metriklerini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zaman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içinde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izleme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8000"/>
              </a:lnSpc>
              <a:buNone/>
            </a:pPr>
            <a:endParaRPr lang="en-US" sz="130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22960" y="4379976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822960" y="4690872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not defteri &amp; sınıf raporları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Eğitmenler için sınıf düzeyinde raporlama ve dışa aktarılabilir PDF not defterleri.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6277356" y="4160520"/>
            <a:ext cx="5362956" cy="1965960"/>
          </a:xfrm>
          <a:prstGeom prst="roundRect">
            <a:avLst>
              <a:gd name="adj" fmla="val 4186"/>
            </a:avLst>
          </a:prstGeom>
          <a:solidFill>
            <a:srgbClr val="1A1F46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551676" y="4379976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551676" y="4690872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kiracılı (multi-tenant) mimari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6551676" y="5166360"/>
            <a:ext cx="4814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Kurumlar/bölümler arası izolasyon — platformu tek-kurumdan çok-kuruma </a:t>
            </a:r>
            <a:r>
              <a:rPr lang="en-US" sz="13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taşımak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EKIP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Katkıları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62956" cy="2240280"/>
          </a:xfrm>
          <a:prstGeom prst="roundRect">
            <a:avLst>
              <a:gd name="adj" fmla="val 367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Ömer Faruk Koç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822960" y="222199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REFACTOR · FRONTEND YENIDEN TASARIM · GÜVENLIK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48143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refactor, tüm frontend yeniden tasarımı (tüm rol akışları, Academic tasarım sistemi), güvenlik sıkılaştırma (@PreAuthorize), istatistik motoru bağlama, denetim günlüğü, yönetici ekranları.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2240280"/>
          </a:xfrm>
          <a:prstGeom prst="roundRect">
            <a:avLst>
              <a:gd name="adj" fmla="val 367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51676" y="1819656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Yunus Emre Türk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6551676" y="222199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kern="0" spc="80">
                <a:solidFill>
                  <a:srgbClr val="A5B4FC"/>
                </a:solidFill>
                <a:latin typeface="Consolas"/>
                <a:ea typeface="Consolas" pitchFamily="34" charset="-122"/>
                <a:cs typeface="Consolas" pitchFamily="34" charset="-120"/>
              </a:rPr>
              <a:t>SINIF SISTEMI · FRONTEND · SRS</a:t>
            </a:r>
            <a:endParaRPr lang="en-US" sz="950">
              <a:latin typeface="Consola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51676" y="2560320"/>
            <a:ext cx="48143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&amp; kayıt &amp; sınav atama sistemi (sınıf bazlı erişim), Keycloak giriş teması + seed scripti, QuizLab frontend yeniden tasarımı, SRS dokümantasyonu.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62956" cy="2240280"/>
          </a:xfrm>
          <a:prstGeom prst="roundRect">
            <a:avLst>
              <a:gd name="adj" fmla="val 367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22960" y="4334256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Alper Kaan Güler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SINAV OLUŞTURMA · PUANLAMA · SINIF İSTATISTIKLERI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48143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oluşturma ve yönetim ekranları, puanlama özellikleri, sınıf istatistikleri, soru yönetimi iyileştirmeleri.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6277356" y="4114800"/>
            <a:ext cx="5362956" cy="2240280"/>
          </a:xfrm>
          <a:prstGeom prst="roundRect">
            <a:avLst>
              <a:gd name="adj" fmla="val 3673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551676" y="4334256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Furkan Filicioğlu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6551676" y="473659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80">
                <a:solidFill>
                  <a:srgbClr val="A5B4FC"/>
                </a:solidFill>
                <a:latin typeface="Consolas"/>
                <a:ea typeface="Consolas" pitchFamily="34" charset="-122"/>
                <a:cs typeface="Consolas" pitchFamily="34" charset="-120"/>
              </a:rPr>
              <a:t>PROJE İSKELETI · YÖNETICI · KEYCLOAK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6551676" y="5074920"/>
            <a:ext cx="48143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iskeleti, yönetici paneli, öğrenci paneli, Keycloak entegrasyonu, giriş sayfası, hata düzeltmeleri.</a:t>
            </a:r>
            <a:endParaRPr lang="en-US" sz="12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00" kern="0" spc="200">
                <a:solidFill>
                  <a:srgbClr val="64748B"/>
                </a:solidFill>
                <a:latin typeface="Consolas"/>
                <a:ea typeface="Consolas" pitchFamily="34" charset="-122"/>
                <a:cs typeface="Consolas" pitchFamily="34" charset="-120"/>
              </a:rPr>
              <a:t>◆ ONLINE QUIZ LAB</a:t>
            </a:r>
            <a:endParaRPr lang="en-US" sz="800" kern="0" spc="200">
              <a:latin typeface="Consola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68712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r>
              <a:rPr lang="en-US" sz="10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21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1C3A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GÖSTER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 ve Sayılarla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62956" cy="4572000"/>
          </a:xfrm>
          <a:prstGeom prst="roundRect">
            <a:avLst>
              <a:gd name="adj" fmla="val 1800"/>
            </a:avLst>
          </a:prstGeom>
          <a:solidFill>
            <a:srgbClr val="12233A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1856232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AKIŞI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3–4 dakika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48143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>
                <a:solidFill>
                  <a:srgbClr val="C9D3E2"/>
                </a:solidFill>
              </a:rPr>
              <a:t>Yönetici girişi (Keycloak) — SSO, rol bazlı yönlendirme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>
                <a:solidFill>
                  <a:srgbClr val="C9D3E2"/>
                </a:solidFill>
              </a:rPr>
              <a:t>Eğitmen: kategori seç, sınav oluştur, sınıfa ata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>
                <a:solidFill>
                  <a:srgbClr val="C9D3E2"/>
                </a:solidFill>
              </a:rPr>
              <a:t>Öğrenci girişi — atanan sınavı gör, süre altında çöz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>
                <a:solidFill>
                  <a:srgbClr val="C9D3E2"/>
                </a:solidFill>
              </a:rPr>
              <a:t>Otomatik puanlama → sonuç ekranı (kategori bazlı döküm)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300">
                <a:solidFill>
                  <a:srgbClr val="C9D3E2"/>
                </a:solidFill>
              </a:rPr>
              <a:t>Eğitmen: ExamStatistics — ayırt edicilik indeksi, güçlük, sınıf ortalaması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4572000"/>
          </a:xfrm>
          <a:prstGeom prst="roundRect">
            <a:avLst>
              <a:gd name="adj" fmla="val 1800"/>
            </a:avLst>
          </a:prstGeom>
          <a:solidFill>
            <a:srgbClr val="1A1F46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551676" y="1856232"/>
            <a:ext cx="48143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SAYILARLA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551676" y="2148840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Ölçeğiyle sistem</a:t>
            </a:r>
            <a:endParaRPr lang="en-US" sz="1800"/>
          </a:p>
        </p:txBody>
      </p:sp>
      <p:sp>
        <p:nvSpPr>
          <p:cNvPr id="14" name="Shape 12"/>
          <p:cNvSpPr/>
          <p:nvPr/>
        </p:nvSpPr>
        <p:spPr>
          <a:xfrm>
            <a:off x="6551676" y="2743200"/>
            <a:ext cx="2315718" cy="502920"/>
          </a:xfrm>
          <a:prstGeom prst="roundRect">
            <a:avLst>
              <a:gd name="adj" fmla="val 9091"/>
            </a:avLst>
          </a:prstGeom>
          <a:solidFill>
            <a:srgbClr val="0F2138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688836" y="2743200"/>
            <a:ext cx="1447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varlıkları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8044434" y="2743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9050274" y="2743200"/>
            <a:ext cx="2315718" cy="502920"/>
          </a:xfrm>
          <a:prstGeom prst="roundRect">
            <a:avLst>
              <a:gd name="adj" fmla="val 9091"/>
            </a:avLst>
          </a:prstGeom>
          <a:solidFill>
            <a:srgbClr val="0F2138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9187434" y="2743200"/>
            <a:ext cx="1447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uçları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10543032" y="2743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60+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6551676" y="3374136"/>
            <a:ext cx="2315718" cy="502920"/>
          </a:xfrm>
          <a:prstGeom prst="roundRect">
            <a:avLst>
              <a:gd name="adj" fmla="val 9091"/>
            </a:avLst>
          </a:prstGeom>
          <a:solidFill>
            <a:srgbClr val="0F2138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688836" y="3374136"/>
            <a:ext cx="1447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sayfaları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8044434" y="337413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9050274" y="3374136"/>
            <a:ext cx="2315718" cy="502920"/>
          </a:xfrm>
          <a:prstGeom prst="roundRect">
            <a:avLst>
              <a:gd name="adj" fmla="val 9091"/>
            </a:avLst>
          </a:prstGeom>
          <a:solidFill>
            <a:srgbClr val="0F2138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187434" y="3374136"/>
            <a:ext cx="1447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tipleri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0543032" y="337413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6551676" y="4005072"/>
            <a:ext cx="2315718" cy="502920"/>
          </a:xfrm>
          <a:prstGeom prst="roundRect">
            <a:avLst>
              <a:gd name="adj" fmla="val 9091"/>
            </a:avLst>
          </a:prstGeom>
          <a:solidFill>
            <a:srgbClr val="0F2138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688836" y="4005072"/>
            <a:ext cx="1447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tipleri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8044434" y="40050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9050274" y="4005072"/>
            <a:ext cx="2315718" cy="502920"/>
          </a:xfrm>
          <a:prstGeom prst="roundRect">
            <a:avLst>
              <a:gd name="adj" fmla="val 9091"/>
            </a:avLst>
          </a:prstGeom>
          <a:solidFill>
            <a:srgbClr val="0F2138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9187434" y="4005072"/>
            <a:ext cx="1447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eylemleri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10543032" y="40050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6551676" y="4681728"/>
            <a:ext cx="4814316" cy="502920"/>
          </a:xfrm>
          <a:prstGeom prst="roundRect">
            <a:avLst>
              <a:gd name="adj" fmla="val 9091"/>
            </a:avLst>
          </a:prstGeom>
          <a:solidFill>
            <a:srgbClr val="0F2138"/>
          </a:solidFill>
          <a:ln w="12700">
            <a:solidFill>
              <a:srgbClr val="2A3B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688836" y="4681728"/>
            <a:ext cx="3899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sınıfları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10543032" y="468172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6551676" y="5623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Denetim eylemleri: CREATE · UPDATE · DELETE · PUBLISH · GRADE · ASSIGN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8283333DD8FBB4CBA9BB8520B45AA40" ma:contentTypeVersion="7" ma:contentTypeDescription="Yeni belge oluşturun." ma:contentTypeScope="" ma:versionID="25c8bb45120d8a76faff5b1ea15dc127">
  <xsd:schema xmlns:xsd="http://www.w3.org/2001/XMLSchema" xmlns:xs="http://www.w3.org/2001/XMLSchema" xmlns:p="http://schemas.microsoft.com/office/2006/metadata/properties" xmlns:ns2="79d977b3-9acc-4d75-8bd3-d4030b1afc49" targetNamespace="http://schemas.microsoft.com/office/2006/metadata/properties" ma:root="true" ma:fieldsID="1f8a78160624311cc415b707188b02de" ns2:_="">
    <xsd:import namespace="79d977b3-9acc-4d75-8bd3-d4030b1af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977b3-9acc-4d75-8bd3-d4030b1afc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BD85E5-3271-4942-AFA8-48B38B2C085D}">
  <ds:schemaRefs>
    <ds:schemaRef ds:uri="79d977b3-9acc-4d75-8bd3-d4030b1afc4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47D3393-C4E6-4D44-86B0-B59DFE4E8A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2D8FE4-2548-443F-9B4E-2A4D8975A4ED}">
  <ds:schemaRefs>
    <ds:schemaRef ds:uri="79d977b3-9acc-4d75-8bd3-d4030b1afc4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Geniş ekran</PresentationFormat>
  <Slides>21</Slides>
  <Notes>21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2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Çevrimiçi Sınav Sistemi — Bitirme Projesi</dc:title>
  <dc:subject>PptxGenJS Presentation</dc:subject>
  <dc:creator>Çevrimiçi Sınav Sistemi Ekibi</dc:creator>
  <cp:revision>2</cp:revision>
  <dcterms:created xsi:type="dcterms:W3CDTF">2026-06-06T08:00:36Z</dcterms:created>
  <dcterms:modified xsi:type="dcterms:W3CDTF">2026-06-19T09:19:05Z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0x010100D8283333DD8FBB4CBA9BB8520B45AA40</vt:lpwstr>
  </property>
</Properties>
</file>